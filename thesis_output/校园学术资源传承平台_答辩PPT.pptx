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ctr"/>
            <a:r>
              <a:rPr sz="3400" b="1">
                <a:solidFill>
                  <a:srgbClr val="1F4E79"/>
                </a:solidFill>
                <a:latin typeface="微软雅黑"/>
              </a:rPr>
              <a:t>校园学术资源传承平台的设计与实现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224028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ctr"/>
            <a:r>
              <a:rPr sz="2200" b="0">
                <a:solidFill>
                  <a:srgbClr val="20262E"/>
                </a:solidFill>
                <a:latin typeface="微软雅黑"/>
              </a:rPr>
              <a:t>本科毕业论文（设计）答辩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3154680"/>
            <a:ext cx="1828800" cy="566928"/>
          </a:xfrm>
          <a:prstGeom prst="roundRect">
            <a:avLst/>
          </a:prstGeom>
          <a:solidFill>
            <a:srgbClr val="E1EDFA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20262E"/>
                </a:solidFill>
                <a:latin typeface="微软雅黑"/>
              </a:rPr>
              <a:t>二手书流转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3154680"/>
            <a:ext cx="1828800" cy="566928"/>
          </a:xfrm>
          <a:prstGeom prst="roundRect">
            <a:avLst/>
          </a:prstGeom>
          <a:solidFill>
            <a:srgbClr val="E8F4EB"/>
          </a:solidFill>
          <a:ln w="15875">
            <a:solidFill>
              <a:srgbClr val="5B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20262E"/>
                </a:solidFill>
                <a:latin typeface="微软雅黑"/>
              </a:rPr>
              <a:t>批注传承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3154680"/>
            <a:ext cx="1828800" cy="566928"/>
          </a:xfrm>
          <a:prstGeom prst="roundRect">
            <a:avLst/>
          </a:prstGeom>
          <a:solidFill>
            <a:srgbClr val="FFF0DC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20262E"/>
                </a:solidFill>
                <a:latin typeface="微软雅黑"/>
              </a:rPr>
              <a:t>学习路径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3154680"/>
            <a:ext cx="1828800" cy="566928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58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20262E"/>
                </a:solidFill>
                <a:latin typeface="微软雅黑"/>
              </a:rPr>
              <a:t>资源共享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5074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ctr"/>
            <a:r>
              <a:rPr sz="1500" b="0">
                <a:solidFill>
                  <a:srgbClr val="586069"/>
                </a:solidFill>
                <a:latin typeface="微软雅黑"/>
              </a:rPr>
              <a:t>学生：            指导教师：            专业：软件工程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62356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586069"/>
                </a:solidFill>
                <a:latin typeface="微软雅黑"/>
              </a:rPr>
              <a:t>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答辩内容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92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86069"/>
                </a:solidFill>
                <a:latin typeface="微软雅黑"/>
              </a:rPr>
              <a:t>校园学术资源传承平台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417320"/>
            <a:ext cx="278892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800" b="1">
                <a:solidFill>
                  <a:srgbClr val="20262E"/>
                </a:solidFill>
                <a:latin typeface="微软雅黑"/>
              </a:rPr>
              <a:t>1
研究背景与意义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417320"/>
            <a:ext cx="278892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800" b="1">
                <a:solidFill>
                  <a:srgbClr val="20262E"/>
                </a:solidFill>
                <a:latin typeface="微软雅黑"/>
              </a:rPr>
              <a:t>2
需求分析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17320"/>
            <a:ext cx="278892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800" b="1">
                <a:solidFill>
                  <a:srgbClr val="20262E"/>
                </a:solidFill>
                <a:latin typeface="微软雅黑"/>
              </a:rPr>
              <a:t>3
系统设计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291839"/>
            <a:ext cx="278892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800" b="1">
                <a:solidFill>
                  <a:srgbClr val="20262E"/>
                </a:solidFill>
                <a:latin typeface="微软雅黑"/>
              </a:rPr>
              <a:t>4
系统实现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3291839"/>
            <a:ext cx="278892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800" b="1">
                <a:solidFill>
                  <a:srgbClr val="20262E"/>
                </a:solidFill>
                <a:latin typeface="微软雅黑"/>
              </a:rPr>
              <a:t>5
系统测试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291839"/>
            <a:ext cx="278892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800" b="1">
                <a:solidFill>
                  <a:srgbClr val="20262E"/>
                </a:solidFill>
                <a:latin typeface="微软雅黑"/>
              </a:rPr>
              <a:t>6
总结与展望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研究背景：校园二手书与学习经验断层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92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86069"/>
                </a:solidFill>
                <a:latin typeface="微软雅黑"/>
              </a:rPr>
              <a:t>校园学术资源传承平台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577840" cy="42976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62E"/>
                </a:solidFill>
                <a:latin typeface="微软雅黑"/>
              </a:defRPr>
            </a:pPr>
            <a:r>
              <a:t>高校课程学习会产生大量教材、教辅与专业参考书，课程结束后部分书籍长期闲置。</a:t>
            </a:r>
          </a:p>
          <a:p>
            <a:pPr>
              <a:spcAft>
                <a:spcPts val="800"/>
              </a:spcAft>
              <a:defRPr sz="1800">
                <a:solidFill>
                  <a:srgbClr val="20262E"/>
                </a:solidFill>
                <a:latin typeface="微软雅黑"/>
              </a:defRPr>
            </a:pPr>
            <a:r>
              <a:t>传统转让依赖微信群、QQ群和线下跳蚤市场，存在信息覆盖、分类检索困难、交易效率低等问题。</a:t>
            </a:r>
          </a:p>
          <a:p>
            <a:pPr>
              <a:spcAft>
                <a:spcPts val="800"/>
              </a:spcAft>
              <a:defRPr sz="1800">
                <a:solidFill>
                  <a:srgbClr val="20262E"/>
                </a:solidFill>
                <a:latin typeface="微软雅黑"/>
              </a:defRPr>
            </a:pPr>
            <a:r>
              <a:t>书籍中的批注、复习重点和配套资料具有学习价值，但常随书籍闲置或转卖而散失。</a:t>
            </a:r>
          </a:p>
          <a:p>
            <a:pPr>
              <a:spcAft>
                <a:spcPts val="800"/>
              </a:spcAft>
              <a:defRPr sz="1800">
                <a:solidFill>
                  <a:srgbClr val="20262E"/>
                </a:solidFill>
                <a:latin typeface="微软雅黑"/>
              </a:defRPr>
            </a:pPr>
            <a:r>
              <a:t>本课题希望在二手书流转基础上，进一步实现学习经验和学术资源的持续传承。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1920240" cy="685800"/>
          </a:xfrm>
          <a:prstGeom prst="roundRect">
            <a:avLst/>
          </a:prstGeom>
          <a:solidFill>
            <a:srgbClr val="E1EDFA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800" b="1">
                <a:solidFill>
                  <a:srgbClr val="20262E"/>
                </a:solidFill>
                <a:latin typeface="微软雅黑"/>
              </a:rPr>
              <a:t>闲置教材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514600"/>
            <a:ext cx="1920240" cy="685800"/>
          </a:xfrm>
          <a:prstGeom prst="roundRect">
            <a:avLst/>
          </a:prstGeom>
          <a:solidFill>
            <a:srgbClr val="FFF0DC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800" b="1">
                <a:solidFill>
                  <a:srgbClr val="20262E"/>
                </a:solidFill>
                <a:latin typeface="微软雅黑"/>
              </a:rPr>
              <a:t>交易沟通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611880"/>
            <a:ext cx="1920240" cy="685800"/>
          </a:xfrm>
          <a:prstGeom prst="roundRect">
            <a:avLst/>
          </a:prstGeom>
          <a:solidFill>
            <a:srgbClr val="E8F4EB"/>
          </a:solidFill>
          <a:ln w="15875">
            <a:solidFill>
              <a:srgbClr val="5B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800" b="1">
                <a:solidFill>
                  <a:srgbClr val="20262E"/>
                </a:solidFill>
                <a:latin typeface="微软雅黑"/>
              </a:rPr>
              <a:t>批注资料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709160"/>
            <a:ext cx="1920240" cy="685800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58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800" b="1">
                <a:solidFill>
                  <a:srgbClr val="20262E"/>
                </a:solidFill>
                <a:latin typeface="微软雅黑"/>
              </a:rPr>
              <a:t>学习路径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235440" y="1755648"/>
            <a:ext cx="1051560" cy="329184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829800" y="2788920"/>
            <a:ext cx="160020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20262E"/>
                </a:solidFill>
                <a:latin typeface="微软雅黑"/>
              </a:rPr>
              <a:t>学术资源传承平台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研究现状与本文定位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92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86069"/>
                </a:solidFill>
                <a:latin typeface="微软雅黑"/>
              </a:rPr>
              <a:t>校园学术资源传承平台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188720"/>
          <a:ext cx="1083563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79"/>
                <a:gridCol w="3611879"/>
                <a:gridCol w="3611879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方向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已有研究特点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本文改进重点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62E"/>
                          </a:solidFill>
                          <a:latin typeface="微软雅黑"/>
                        </a:rPr>
                        <a:t>校园二手交易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262E"/>
                          </a:solidFill>
                          <a:latin typeface="微软雅黑"/>
                        </a:rPr>
                        <a:t>关注物品发布、分类检索、沟通交易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262E"/>
                          </a:solidFill>
                          <a:latin typeface="微软雅黑"/>
                        </a:rPr>
                        <a:t>对学习批注与课程资源关注不足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62E"/>
                          </a:solidFill>
                          <a:latin typeface="微软雅黑"/>
                        </a:rPr>
                        <a:t>微信小程序平台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262E"/>
                          </a:solidFill>
                          <a:latin typeface="微软雅黑"/>
                        </a:rPr>
                        <a:t>入口轻量、无需安装、适合学生移动端使用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262E"/>
                          </a:solidFill>
                          <a:latin typeface="微软雅黑"/>
                        </a:rPr>
                        <a:t>需要结合具体校园业务设计功能闭环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62E"/>
                          </a:solidFill>
                          <a:latin typeface="微软雅黑"/>
                        </a:rPr>
                        <a:t>二手书交易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262E"/>
                          </a:solidFill>
                          <a:latin typeface="微软雅黑"/>
                        </a:rPr>
                        <a:t>降低学习成本，推动书籍循环利用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262E"/>
                          </a:solidFill>
                          <a:latin typeface="微软雅黑"/>
                        </a:rPr>
                        <a:t>多停留在书籍买卖层面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0262E"/>
                          </a:solidFill>
                          <a:latin typeface="微软雅黑"/>
                        </a:rPr>
                        <a:t>本文工作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262E"/>
                          </a:solidFill>
                          <a:latin typeface="微软雅黑"/>
                        </a:rPr>
                        <a:t>交易、批注、资源、路径统一设计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262E"/>
                          </a:solidFill>
                          <a:latin typeface="微软雅黑"/>
                        </a:rPr>
                        <a:t>突出书籍流转中的学习经验沉淀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solidFill>
            <a:srgbClr val="E1EDFA"/>
          </a:solidFill>
          <a:ln>
            <a:solidFill>
              <a:srgbClr val="4472C4"/>
            </a:solidFill>
          </a:ln>
        </p:spPr>
        <p:txBody>
          <a:bodyPr wrap="none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微软雅黑"/>
              </a:rPr>
              <a:t>核心定位：不是普通二手交易平台，而是面向校园教材流转的“书籍 + 批注 + 资源 + 路径”综合平台。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研究目标与主要工作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92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86069"/>
                </a:solidFill>
                <a:latin typeface="微软雅黑"/>
              </a:rPr>
              <a:t>校园学术资源传承平台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5669280" cy="47548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62E"/>
                </a:solidFill>
                <a:latin typeface="微软雅黑"/>
              </a:defRPr>
            </a:pPr>
            <a:r>
              <a:t>完成面向用户和管理员两类角色的需求分析。</a:t>
            </a:r>
          </a:p>
          <a:p>
            <a:pPr>
              <a:spcAft>
                <a:spcPts val="800"/>
              </a:spcAft>
              <a:defRPr sz="1800">
                <a:solidFill>
                  <a:srgbClr val="20262E"/>
                </a:solidFill>
                <a:latin typeface="微软雅黑"/>
              </a:defRPr>
            </a:pPr>
            <a:r>
              <a:t>设计前后端分离的总体架构、功能模块和核心业务流程。</a:t>
            </a:r>
          </a:p>
          <a:p>
            <a:pPr>
              <a:spcAft>
                <a:spcPts val="800"/>
              </a:spcAft>
              <a:defRPr sz="1800">
                <a:solidFill>
                  <a:srgbClr val="20262E"/>
                </a:solidFill>
                <a:latin typeface="微软雅黑"/>
              </a:defRPr>
            </a:pPr>
            <a:r>
              <a:t>围绕用户、书籍、订单、批注、资源、学习路径等实体完成数据库设计。</a:t>
            </a:r>
          </a:p>
          <a:p>
            <a:pPr>
              <a:spcAft>
                <a:spcPts val="800"/>
              </a:spcAft>
              <a:defRPr sz="1800">
                <a:solidFill>
                  <a:srgbClr val="20262E"/>
                </a:solidFill>
                <a:latin typeface="微软雅黑"/>
              </a:defRPr>
            </a:pPr>
            <a:r>
              <a:t>实现用户端微信小程序和后台管理端的主要功能。</a:t>
            </a:r>
          </a:p>
          <a:p>
            <a:pPr>
              <a:spcAft>
                <a:spcPts val="800"/>
              </a:spcAft>
              <a:defRPr sz="1800">
                <a:solidFill>
                  <a:srgbClr val="20262E"/>
                </a:solidFill>
                <a:latin typeface="微软雅黑"/>
              </a:defRPr>
            </a:pPr>
            <a:r>
              <a:t>对登录认证、书籍交易、批注路径、后台管理等核心功能进行测试。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234440"/>
            <a:ext cx="21945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20262E"/>
                </a:solidFill>
                <a:latin typeface="微软雅黑"/>
              </a:rPr>
              <a:t>需求分析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0" y="1810512"/>
            <a:ext cx="0" cy="402336"/>
          </a:xfrm>
          <a:prstGeom prst="line">
            <a:avLst/>
          </a:prstGeom>
          <a:ln w="228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0" y="2286000"/>
            <a:ext cx="21945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20262E"/>
                </a:solidFill>
                <a:latin typeface="微软雅黑"/>
              </a:rPr>
              <a:t>总体设计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0" y="2862072"/>
            <a:ext cx="0" cy="402336"/>
          </a:xfrm>
          <a:prstGeom prst="line">
            <a:avLst/>
          </a:prstGeom>
          <a:ln w="228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0" y="3337560"/>
            <a:ext cx="21945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20262E"/>
                </a:solidFill>
                <a:latin typeface="微软雅黑"/>
              </a:rPr>
              <a:t>功能实现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0" y="3913631"/>
            <a:ext cx="0" cy="402337"/>
          </a:xfrm>
          <a:prstGeom prst="line">
            <a:avLst/>
          </a:prstGeom>
          <a:ln w="228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0" y="4389120"/>
            <a:ext cx="21945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20262E"/>
                </a:solidFill>
                <a:latin typeface="微软雅黑"/>
              </a:rPr>
              <a:t>系统测试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需求分析：用户与管理员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92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86069"/>
                </a:solidFill>
                <a:latin typeface="微软雅黑"/>
              </a:rPr>
              <a:t>校园学术资源传承平台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4937760" cy="502920"/>
          </a:xfrm>
          <a:prstGeom prst="roundRect">
            <a:avLst/>
          </a:prstGeom>
          <a:solidFill>
            <a:srgbClr val="E1EDFA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900" b="1">
                <a:solidFill>
                  <a:srgbClr val="20262E"/>
                </a:solidFill>
                <a:latin typeface="微软雅黑"/>
              </a:rPr>
              <a:t>用户端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4937760" cy="502920"/>
          </a:xfrm>
          <a:prstGeom prst="roundRect">
            <a:avLst/>
          </a:prstGeom>
          <a:solidFill>
            <a:srgbClr val="FFF0DC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900" b="1">
                <a:solidFill>
                  <a:srgbClr val="20262E"/>
                </a:solidFill>
                <a:latin typeface="微软雅黑"/>
              </a:rPr>
              <a:t>管理端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0" cy="41148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  <a:latin typeface="微软雅黑"/>
              </a:defRPr>
            </a:pPr>
            <a:r>
              <a:t>微信登录与个人资料维护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  <a:latin typeface="微软雅黑"/>
              </a:defRPr>
            </a:pPr>
            <a:r>
              <a:t>学生认证、地址与通知管理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  <a:latin typeface="微软雅黑"/>
              </a:defRPr>
            </a:pPr>
            <a:r>
              <a:t>书籍浏览、搜索、发布与收藏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  <a:latin typeface="微软雅黑"/>
              </a:defRPr>
            </a:pPr>
            <a:r>
              <a:t>订单创建、模拟支付、发货、确认收货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  <a:latin typeface="微软雅黑"/>
              </a:defRPr>
            </a:pPr>
            <a:r>
              <a:t>批注创建、学习路径、资源查看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  <a:latin typeface="微软雅黑"/>
              </a:defRPr>
            </a:pPr>
            <a:r>
              <a:t>社区评论、举报与私信沟通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572000" cy="41148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  <a:latin typeface="微软雅黑"/>
              </a:defRPr>
            </a:pPr>
            <a:r>
              <a:t>后台登录与数据概览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  <a:latin typeface="微软雅黑"/>
              </a:defRPr>
            </a:pPr>
            <a:r>
              <a:t>用户状态管理与认证审核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  <a:latin typeface="微软雅黑"/>
              </a:defRPr>
            </a:pPr>
            <a:r>
              <a:t>书籍、资源、学习路径管理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  <a:latin typeface="微软雅黑"/>
              </a:defRPr>
            </a:pPr>
            <a:r>
              <a:t>订单与纠纷辅助处理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  <a:latin typeface="微软雅黑"/>
              </a:defRPr>
            </a:pPr>
            <a:r>
              <a:t>帖子、评论、举报与反馈处理</a:t>
            </a:r>
          </a:p>
          <a:p>
            <a:pPr>
              <a:spcAft>
                <a:spcPts val="800"/>
              </a:spcAft>
              <a:defRPr sz="1500">
                <a:solidFill>
                  <a:srgbClr val="20262E"/>
                </a:solidFill>
                <a:latin typeface="微软雅黑"/>
              </a:defRPr>
            </a:pPr>
            <a:r>
              <a:t>轮播图和运营内容维护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技术路线与项目结构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92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86069"/>
                </a:solidFill>
                <a:latin typeface="微软雅黑"/>
              </a:rPr>
              <a:t>校园学术资源传承平台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143000"/>
            <a:ext cx="1417320" cy="530352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用户端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143000"/>
            <a:ext cx="3246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0">
                <a:solidFill>
                  <a:srgbClr val="20262E"/>
                </a:solidFill>
                <a:latin typeface="微软雅黑"/>
              </a:rPr>
              <a:t>UniApp / 微信小程序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43000"/>
            <a:ext cx="1417320" cy="530352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管理端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143000"/>
            <a:ext cx="3246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0">
                <a:solidFill>
                  <a:srgbClr val="20262E"/>
                </a:solidFill>
                <a:latin typeface="微软雅黑"/>
              </a:rPr>
              <a:t>Vue 3 / Web 后台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68880"/>
            <a:ext cx="1417320" cy="530352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后端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2468880"/>
            <a:ext cx="3246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0">
                <a:solidFill>
                  <a:srgbClr val="20262E"/>
                </a:solidFill>
                <a:latin typeface="微软雅黑"/>
              </a:rPr>
              <a:t>Spring Boot / 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468880"/>
            <a:ext cx="1417320" cy="530352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持久层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468880"/>
            <a:ext cx="3246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0">
                <a:solidFill>
                  <a:srgbClr val="20262E"/>
                </a:solidFill>
                <a:latin typeface="微软雅黑"/>
              </a:rPr>
              <a:t>MyBatis-Flex / Mapper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94760"/>
            <a:ext cx="1417320" cy="530352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数据存储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3794760"/>
            <a:ext cx="3246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0">
                <a:solidFill>
                  <a:srgbClr val="20262E"/>
                </a:solidFill>
                <a:latin typeface="微软雅黑"/>
              </a:rPr>
              <a:t>MySQL / Redis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94760"/>
            <a:ext cx="1417320" cy="530352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文件服务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794760"/>
            <a:ext cx="3246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0">
                <a:solidFill>
                  <a:srgbClr val="20262E"/>
                </a:solidFill>
                <a:latin typeface="微软雅黑"/>
              </a:rPr>
              <a:t>本地 uploads 静态资源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332720" cy="34747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ctr"/>
            <a:r>
              <a:rPr sz="1700" b="1">
                <a:solidFill>
                  <a:srgbClr val="1F4E79"/>
                </a:solidFill>
                <a:latin typeface="微软雅黑"/>
              </a:rPr>
              <a:t>选型原则：贴合项目实际、前后端分离、便于展示软件工程分层设计。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系统总体架构设计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92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86069"/>
                </a:solidFill>
                <a:latin typeface="微软雅黑"/>
              </a:rPr>
              <a:t>校园学术资源传承平台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914400" cy="713232"/>
          </a:xfrm>
          <a:prstGeom prst="roundRect">
            <a:avLst/>
          </a:prstGeom>
          <a:solidFill>
            <a:srgbClr val="4472C4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表现层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051560"/>
            <a:ext cx="9829800" cy="713232"/>
          </a:xfrm>
          <a:prstGeom prst="roundRect">
            <a:avLst/>
          </a:prstGeom>
          <a:solidFill>
            <a:srgbClr val="E1EDFA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" b="0">
                <a:solidFill>
                  <a:srgbClr val="20262E"/>
                </a:solidFill>
                <a:latin typeface="微软雅黑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197863"/>
            <a:ext cx="141732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0262E"/>
                </a:solidFill>
                <a:latin typeface="微软雅黑"/>
              </a:rPr>
              <a:t>微信小程序（UniApp）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197863"/>
            <a:ext cx="141732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0262E"/>
                </a:solidFill>
                <a:latin typeface="微软雅黑"/>
              </a:rPr>
              <a:t>Web 管理后台（Vue 3）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13432"/>
            <a:ext cx="914400" cy="713232"/>
          </a:xfrm>
          <a:prstGeom prst="roundRect">
            <a:avLst/>
          </a:prstGeom>
          <a:solidFill>
            <a:srgbClr val="ED7D31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业务层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2313432"/>
            <a:ext cx="9829800" cy="713232"/>
          </a:xfrm>
          <a:prstGeom prst="roundRect">
            <a:avLst/>
          </a:prstGeom>
          <a:solidFill>
            <a:srgbClr val="FFF0DC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" b="0">
                <a:solidFill>
                  <a:srgbClr val="20262E"/>
                </a:solidFill>
                <a:latin typeface="微软雅黑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459736"/>
            <a:ext cx="141732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0262E"/>
                </a:solidFill>
                <a:latin typeface="微软雅黑"/>
              </a:rPr>
              <a:t>用户认证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9480" y="2459736"/>
            <a:ext cx="141732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0262E"/>
                </a:solidFill>
                <a:latin typeface="微软雅黑"/>
              </a:rPr>
              <a:t>书籍交易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8720" y="2459736"/>
            <a:ext cx="141732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0262E"/>
                </a:solidFill>
                <a:latin typeface="微软雅黑"/>
              </a:rPr>
              <a:t>批注传承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459736"/>
            <a:ext cx="141732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0262E"/>
                </a:solidFill>
                <a:latin typeface="微软雅黑"/>
              </a:rPr>
              <a:t>学习路径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2459736"/>
            <a:ext cx="141732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0262E"/>
                </a:solidFill>
                <a:latin typeface="微软雅黑"/>
              </a:rPr>
              <a:t>资源管理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16440" y="2459736"/>
            <a:ext cx="141732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0262E"/>
                </a:solidFill>
                <a:latin typeface="微软雅黑"/>
              </a:rPr>
              <a:t>社区私信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75303"/>
            <a:ext cx="914400" cy="713232"/>
          </a:xfrm>
          <a:prstGeom prst="roundRect">
            <a:avLst/>
          </a:prstGeom>
          <a:solidFill>
            <a:srgbClr val="5B9B78"/>
          </a:solidFill>
          <a:ln w="15875">
            <a:solidFill>
              <a:srgbClr val="5B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3575303"/>
            <a:ext cx="9829800" cy="713232"/>
          </a:xfrm>
          <a:prstGeom prst="roundRect">
            <a:avLst/>
          </a:prstGeom>
          <a:solidFill>
            <a:srgbClr val="E8F4EB"/>
          </a:solidFill>
          <a:ln w="15875">
            <a:solidFill>
              <a:srgbClr val="5B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" b="0">
                <a:solidFill>
                  <a:srgbClr val="20262E"/>
                </a:solidFill>
                <a:latin typeface="微软雅黑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3721607"/>
            <a:ext cx="141732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0262E"/>
                </a:solidFill>
                <a:latin typeface="微软雅黑"/>
              </a:rPr>
              <a:t>MySQL 8.0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721607"/>
            <a:ext cx="141732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0262E"/>
                </a:solidFill>
                <a:latin typeface="微软雅黑"/>
              </a:rPr>
              <a:t>Redis 7.0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37175"/>
            <a:ext cx="914400" cy="713232"/>
          </a:xfrm>
          <a:prstGeom prst="roundRect">
            <a:avLst/>
          </a:prstGeom>
          <a:solidFill>
            <a:srgbClr val="586069"/>
          </a:solidFill>
          <a:ln w="15875">
            <a:solidFill>
              <a:srgbClr val="58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支撑层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37360" y="4837175"/>
            <a:ext cx="9829800" cy="713232"/>
          </a:xfrm>
          <a:prstGeom prst="roundRect">
            <a:avLst/>
          </a:prstGeom>
          <a:solidFill>
            <a:srgbClr val="F6F8FA"/>
          </a:solidFill>
          <a:ln w="15875">
            <a:solidFill>
              <a:srgbClr val="58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" b="0">
                <a:solidFill>
                  <a:srgbClr val="20262E"/>
                </a:solidFill>
                <a:latin typeface="微软雅黑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4983479"/>
            <a:ext cx="141732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8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0262E"/>
                </a:solidFill>
                <a:latin typeface="微软雅黑"/>
              </a:rPr>
              <a:t>本地文件存储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98720" y="4983479"/>
            <a:ext cx="141732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8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0262E"/>
                </a:solidFill>
                <a:latin typeface="微软雅黑"/>
              </a:rPr>
              <a:t>微信开放平台接口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7200" y="4983479"/>
            <a:ext cx="141732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8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20262E"/>
                </a:solidFill>
                <a:latin typeface="微软雅黑"/>
              </a:rPr>
              <a:t>公共基础能力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29400" y="1792224"/>
            <a:ext cx="0" cy="493776"/>
          </a:xfrm>
          <a:prstGeom prst="line">
            <a:avLst/>
          </a:prstGeom>
          <a:ln w="228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720840" y="1792224"/>
            <a:ext cx="0" cy="493776"/>
          </a:xfrm>
          <a:prstGeom prst="line">
            <a:avLst/>
          </a:prstGeom>
          <a:ln w="127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29400" y="3054096"/>
            <a:ext cx="0" cy="493776"/>
          </a:xfrm>
          <a:prstGeom prst="line">
            <a:avLst/>
          </a:prstGeom>
          <a:ln w="228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720840" y="3054096"/>
            <a:ext cx="0" cy="493776"/>
          </a:xfrm>
          <a:prstGeom prst="line">
            <a:avLst/>
          </a:prstGeom>
          <a:ln w="127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114800" y="3172968"/>
            <a:ext cx="0" cy="1636775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206240" y="3172968"/>
            <a:ext cx="0" cy="1636775"/>
          </a:xfrm>
          <a:prstGeom prst="line">
            <a:avLst/>
          </a:prstGeom>
          <a:ln w="1270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05840" y="612648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86069"/>
                </a:solidFill>
                <a:latin typeface="微软雅黑"/>
              </a:rPr>
              <a:t>说明：请求方向由表现层进入业务层，业务层访问数据层和支撑能力；响应数据按相反方向返回。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系统功能模块设计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92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86069"/>
                </a:solidFill>
                <a:latin typeface="微软雅黑"/>
              </a:rPr>
              <a:t>校园学术资源传承平台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60520" y="960120"/>
            <a:ext cx="3749039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900" b="1">
                <a:solidFill>
                  <a:srgbClr val="20262E"/>
                </a:solidFill>
                <a:latin typeface="微软雅黑"/>
              </a:rPr>
              <a:t>校园学术资源传承平台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0" y="1463040"/>
            <a:ext cx="0" cy="475488"/>
          </a:xfrm>
          <a:prstGeom prst="line">
            <a:avLst/>
          </a:prstGeom>
          <a:ln w="228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05840" y="1938528"/>
            <a:ext cx="4480560" cy="475488"/>
          </a:xfrm>
          <a:prstGeom prst="roundRect">
            <a:avLst/>
          </a:prstGeom>
          <a:solidFill>
            <a:srgbClr val="E1EDFA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20262E"/>
                </a:solidFill>
                <a:latin typeface="微软雅黑"/>
              </a:rPr>
              <a:t>用户端（小程序）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38528"/>
            <a:ext cx="4480560" cy="475488"/>
          </a:xfrm>
          <a:prstGeom prst="roundRect">
            <a:avLst/>
          </a:prstGeom>
          <a:solidFill>
            <a:srgbClr val="FFF0DC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700" b="1">
                <a:solidFill>
                  <a:srgbClr val="20262E"/>
                </a:solidFill>
                <a:latin typeface="微软雅黑"/>
              </a:rPr>
              <a:t>管理端（Web）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834640"/>
            <a:ext cx="566928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20262E"/>
                </a:solidFill>
                <a:latin typeface="微软雅黑"/>
              </a:rPr>
              <a:t>首页浏览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0512" y="2834640"/>
            <a:ext cx="566928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20262E"/>
                </a:solidFill>
                <a:latin typeface="微软雅黑"/>
              </a:rPr>
              <a:t>书籍模块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3744" y="2834640"/>
            <a:ext cx="566928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20262E"/>
                </a:solidFill>
                <a:latin typeface="微软雅黑"/>
              </a:rPr>
              <a:t>交易模块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6976" y="2834640"/>
            <a:ext cx="566928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20262E"/>
                </a:solidFill>
                <a:latin typeface="微软雅黑"/>
              </a:rPr>
              <a:t>传承模块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50208" y="2834640"/>
            <a:ext cx="566928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20262E"/>
                </a:solidFill>
                <a:latin typeface="微软雅黑"/>
              </a:rPr>
              <a:t>社区模块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834640"/>
            <a:ext cx="566928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20262E"/>
                </a:solidFill>
                <a:latin typeface="微软雅黑"/>
              </a:rPr>
              <a:t>个人中心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834640"/>
            <a:ext cx="658368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20262E"/>
                </a:solidFill>
                <a:latin typeface="微软雅黑"/>
              </a:rPr>
              <a:t>仪表盘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834640"/>
            <a:ext cx="658368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20262E"/>
                </a:solidFill>
                <a:latin typeface="微软雅黑"/>
              </a:rPr>
              <a:t>用户管理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2834640"/>
            <a:ext cx="658368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20262E"/>
                </a:solidFill>
                <a:latin typeface="微软雅黑"/>
              </a:rPr>
              <a:t>内容管理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2834640"/>
            <a:ext cx="658368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20262E"/>
                </a:solidFill>
                <a:latin typeface="微软雅黑"/>
              </a:rPr>
              <a:t>交易管理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5560" y="2834640"/>
            <a:ext cx="658368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20262E"/>
                </a:solidFill>
                <a:latin typeface="微软雅黑"/>
              </a:rPr>
              <a:t>系统管理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数据库设计：核心实体关系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92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86069"/>
                </a:solidFill>
                <a:latin typeface="微软雅黑"/>
              </a:rPr>
              <a:t>校园学术资源传承平台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173736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20262E"/>
                </a:solidFill>
                <a:latin typeface="微软雅黑"/>
              </a:rPr>
              <a:t>用户
wx_user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234440"/>
            <a:ext cx="173736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20262E"/>
                </a:solidFill>
                <a:latin typeface="微软雅黑"/>
              </a:rPr>
              <a:t>书籍
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234440"/>
            <a:ext cx="173736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20262E"/>
                </a:solidFill>
                <a:latin typeface="微软雅黑"/>
              </a:rPr>
              <a:t>订单
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017520"/>
            <a:ext cx="173736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20262E"/>
                </a:solidFill>
                <a:latin typeface="微软雅黑"/>
              </a:rPr>
              <a:t>批注
annotation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017520"/>
            <a:ext cx="173736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20262E"/>
                </a:solidFill>
                <a:latin typeface="微软雅黑"/>
              </a:rPr>
              <a:t>资源
resource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173736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20262E"/>
                </a:solidFill>
                <a:latin typeface="微软雅黑"/>
              </a:rPr>
              <a:t>学习路径
learning_path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173736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20262E"/>
                </a:solidFill>
                <a:latin typeface="微软雅黑"/>
              </a:rPr>
              <a:t>路径节点
path_node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663440"/>
            <a:ext cx="173736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20262E"/>
                </a:solidFill>
                <a:latin typeface="微软雅黑"/>
              </a:rPr>
              <a:t>社区/私信
post/chat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1581912"/>
            <a:ext cx="1097280" cy="0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94960" y="1581912"/>
            <a:ext cx="1097280" cy="0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26280" y="1929384"/>
            <a:ext cx="0" cy="1088136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94960" y="3364992"/>
            <a:ext cx="1097280" cy="0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691640" y="3712463"/>
            <a:ext cx="0" cy="950977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560320" y="3364992"/>
            <a:ext cx="1097280" cy="0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60920" y="3712463"/>
            <a:ext cx="0" cy="950977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5840" y="580644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微软雅黑"/>
              </a:rPr>
              <a:t>关键表：wx_user、user_profile、book、order、annotation、resource、learning_path、path_node。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核心业务流程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92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86069"/>
                </a:solidFill>
                <a:latin typeface="微软雅黑"/>
              </a:rPr>
              <a:t>校园学术资源传承平台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115568"/>
            <a:ext cx="1325880" cy="4572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登录认证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115568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0">
                <a:solidFill>
                  <a:srgbClr val="20262E"/>
                </a:solidFill>
                <a:latin typeface="微软雅黑"/>
              </a:rPr>
              <a:t>微信授权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49039" y="1344168"/>
            <a:ext cx="731521" cy="0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1115568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0">
                <a:solidFill>
                  <a:srgbClr val="20262E"/>
                </a:solidFill>
                <a:latin typeface="微软雅黑"/>
              </a:rPr>
              <a:t>生成 token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1344168"/>
            <a:ext cx="731520" cy="0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12280" y="1115568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0">
                <a:solidFill>
                  <a:srgbClr val="20262E"/>
                </a:solidFill>
                <a:latin typeface="微软雅黑"/>
              </a:rPr>
              <a:t>访问受限功能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86000"/>
            <a:ext cx="1325880" cy="4572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书籍交易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2286000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0">
                <a:solidFill>
                  <a:srgbClr val="20262E"/>
                </a:solidFill>
                <a:latin typeface="微软雅黑"/>
              </a:rPr>
              <a:t>发布书籍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49039" y="2514600"/>
            <a:ext cx="731521" cy="0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0" y="2286000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0">
                <a:solidFill>
                  <a:srgbClr val="20262E"/>
                </a:solidFill>
                <a:latin typeface="微软雅黑"/>
              </a:rPr>
              <a:t>买家沟通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2514600"/>
            <a:ext cx="731520" cy="0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12280" y="2286000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0">
                <a:solidFill>
                  <a:srgbClr val="20262E"/>
                </a:solidFill>
                <a:latin typeface="微软雅黑"/>
              </a:rPr>
              <a:t>创建订单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0" y="2514600"/>
            <a:ext cx="731520" cy="0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60" y="2286000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0">
                <a:solidFill>
                  <a:srgbClr val="20262E"/>
                </a:solidFill>
                <a:latin typeface="微软雅黑"/>
              </a:rPr>
              <a:t>支付/发货/收货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56432"/>
            <a:ext cx="1325880" cy="4572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批注传承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3456432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0">
                <a:solidFill>
                  <a:srgbClr val="20262E"/>
                </a:solidFill>
                <a:latin typeface="微软雅黑"/>
              </a:rPr>
              <a:t>查看批注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49039" y="3685032"/>
            <a:ext cx="731521" cy="0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0" y="3456432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0">
                <a:solidFill>
                  <a:srgbClr val="20262E"/>
                </a:solidFill>
                <a:latin typeface="微软雅黑"/>
              </a:rPr>
              <a:t>创建文字/图片批注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685032"/>
            <a:ext cx="731520" cy="0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12280" y="3456432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0">
                <a:solidFill>
                  <a:srgbClr val="20262E"/>
                </a:solidFill>
                <a:latin typeface="微软雅黑"/>
              </a:rPr>
              <a:t>点赞反馈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626864"/>
            <a:ext cx="1325880" cy="4572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学习路径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31720" y="4626864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0">
                <a:solidFill>
                  <a:srgbClr val="20262E"/>
                </a:solidFill>
                <a:latin typeface="微软雅黑"/>
              </a:rPr>
              <a:t>创建路径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49039" y="4855464"/>
            <a:ext cx="731521" cy="0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0" y="4626864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0">
                <a:solidFill>
                  <a:srgbClr val="20262E"/>
                </a:solidFill>
                <a:latin typeface="微软雅黑"/>
              </a:rPr>
              <a:t>维护节点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89320" y="4855464"/>
            <a:ext cx="731520" cy="0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812280" y="4626864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0">
                <a:solidFill>
                  <a:srgbClr val="20262E"/>
                </a:solidFill>
                <a:latin typeface="微软雅黑"/>
              </a:rPr>
              <a:t>查看资源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29600" y="4855464"/>
            <a:ext cx="731520" cy="0"/>
          </a:xfrm>
          <a:prstGeom prst="line">
            <a:avLst/>
          </a:prstGeom>
          <a:ln w="17780">
            <a:solidFill>
              <a:srgbClr val="58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52560" y="4626864"/>
            <a:ext cx="14173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0">
                <a:solidFill>
                  <a:srgbClr val="20262E"/>
                </a:solidFill>
                <a:latin typeface="微软雅黑"/>
              </a:rPr>
              <a:t>记录进度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系统实现：用户端功能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92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86069"/>
                </a:solidFill>
                <a:latin typeface="微软雅黑"/>
              </a:rPr>
              <a:t>校园学术资源传承平台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5852160" cy="47548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62E"/>
                </a:solidFill>
                <a:latin typeface="微软雅黑"/>
              </a:defRPr>
            </a:pPr>
            <a:r>
              <a:t>首页：展示轮播图、热门书籍、推荐学习路径和社区动态。</a:t>
            </a:r>
          </a:p>
          <a:p>
            <a:pPr>
              <a:spcAft>
                <a:spcPts val="800"/>
              </a:spcAft>
              <a:defRPr sz="1700">
                <a:solidFill>
                  <a:srgbClr val="20262E"/>
                </a:solidFill>
                <a:latin typeface="微软雅黑"/>
              </a:defRPr>
            </a:pPr>
            <a:r>
              <a:t>发布：支持上传书籍图片，填写 ISBN、书名、作者、价格、成色等信息。</a:t>
            </a:r>
          </a:p>
          <a:p>
            <a:pPr>
              <a:spcAft>
                <a:spcPts val="800"/>
              </a:spcAft>
              <a:defRPr sz="1700">
                <a:solidFill>
                  <a:srgbClr val="20262E"/>
                </a:solidFill>
                <a:latin typeface="微软雅黑"/>
              </a:defRPr>
            </a:pPr>
            <a:r>
              <a:t>详情：查看书籍信息、批注内容、相关资源，并发起沟通或交易。</a:t>
            </a:r>
          </a:p>
          <a:p>
            <a:pPr>
              <a:spcAft>
                <a:spcPts val="800"/>
              </a:spcAft>
              <a:defRPr sz="1700">
                <a:solidFill>
                  <a:srgbClr val="20262E"/>
                </a:solidFill>
                <a:latin typeface="微软雅黑"/>
              </a:defRPr>
            </a:pPr>
            <a:r>
              <a:t>学习路径：查看路径节点、资源列表和学习进度，支持收藏与节点完成记录。</a:t>
            </a:r>
          </a:p>
          <a:p>
            <a:pPr>
              <a:spcAft>
                <a:spcPts val="800"/>
              </a:spcAft>
              <a:defRPr sz="1700">
                <a:solidFill>
                  <a:srgbClr val="20262E"/>
                </a:solidFill>
                <a:latin typeface="微软雅黑"/>
              </a:defRPr>
            </a:pPr>
            <a:r>
              <a:t>社区与私信：支持帖子浏览、评论、举报、交易私信和订单快捷操作。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960120"/>
            <a:ext cx="22402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20700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微软雅黑"/>
              </a:rPr>
              <a:t>薪传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28800"/>
            <a:ext cx="1691640" cy="411480"/>
          </a:xfrm>
          <a:prstGeom prst="roundRect">
            <a:avLst/>
          </a:prstGeom>
          <a:solidFill>
            <a:srgbClr val="E1EDFA"/>
          </a:solidFill>
          <a:ln w="15875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20262E"/>
                </a:solidFill>
                <a:latin typeface="微软雅黑"/>
              </a:rPr>
              <a:t>热门书籍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468880"/>
            <a:ext cx="1691640" cy="411480"/>
          </a:xfrm>
          <a:prstGeom prst="roundRect">
            <a:avLst/>
          </a:prstGeom>
          <a:solidFill>
            <a:srgbClr val="E8F4EB"/>
          </a:solidFill>
          <a:ln w="15875">
            <a:solidFill>
              <a:srgbClr val="5B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20262E"/>
                </a:solidFill>
                <a:latin typeface="微软雅黑"/>
              </a:rPr>
              <a:t>学习路径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3108960"/>
            <a:ext cx="1691640" cy="411480"/>
          </a:xfrm>
          <a:prstGeom prst="roundRect">
            <a:avLst/>
          </a:prstGeom>
          <a:solidFill>
            <a:srgbClr val="FFF0DC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20262E"/>
                </a:solidFill>
                <a:latin typeface="微软雅黑"/>
              </a:rPr>
              <a:t>社区动态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749039"/>
            <a:ext cx="169164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8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20262E"/>
                </a:solidFill>
                <a:latin typeface="微软雅黑"/>
              </a:rPr>
              <a:t>个人中心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4389120"/>
            <a:ext cx="1691640" cy="411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8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20262E"/>
                </a:solidFill>
                <a:latin typeface="微软雅黑"/>
              </a:rPr>
              <a:t>发布书籍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系统实现：管理端功能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92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86069"/>
                </a:solidFill>
                <a:latin typeface="微软雅黑"/>
              </a:rPr>
              <a:t>校园学术资源传承平台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234440"/>
          <a:ext cx="10332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模块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主要功能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后台登录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管理员登录、菜单获取、退出登录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数据概览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统计用户、书籍、订单、内容等运行情况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认证审核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查看学生认证资料，处理审核结果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内容管理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书籍、资源、学习路径、帖子和评论状态维护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运营处理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举报、反馈、轮播图和订单纠纷辅助处理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257800"/>
            <a:ext cx="10332720" cy="384048"/>
          </a:xfrm>
          <a:prstGeom prst="rect">
            <a:avLst/>
          </a:prstGeom>
          <a:solidFill>
            <a:srgbClr val="E1EDFA"/>
          </a:solidFill>
          <a:ln>
            <a:solidFill>
              <a:srgbClr val="4472C4"/>
            </a:solidFill>
          </a:ln>
        </p:spPr>
        <p:txBody>
          <a:bodyPr wrap="none" lIns="73152" rIns="73152" tIns="73152" bIns="73152">
            <a:spAutoFit/>
          </a:bodyPr>
          <a:lstStyle/>
          <a:p>
            <a:pPr algn="ctr"/>
            <a:r>
              <a:rPr sz="1700" b="1">
                <a:solidFill>
                  <a:srgbClr val="1F4E79"/>
                </a:solidFill>
                <a:latin typeface="微软雅黑"/>
              </a:rPr>
              <a:t>管理端重点承担平台治理和内容维护，不夸大为复杂运营系统，保持与项目实现一致。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系统测试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92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86069"/>
                </a:solidFill>
                <a:latin typeface="微软雅黑"/>
              </a:rPr>
              <a:t>校园学术资源传承平台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143000"/>
          <a:ext cx="105156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测试模块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测试内容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结果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用户登录与认证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微信登录、受限页面访问、学生认证提交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书籍发布与交易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发布校验、订单创建、状态流转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批注与学习路径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批注创建、路径发布、节点进度更新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后台管理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管理员登录、认证审核、内容状态维护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62E"/>
                          </a:solidFill>
                          <a:latin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5840" y="4617720"/>
            <a:ext cx="9875520" cy="10972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62E"/>
                </a:solidFill>
                <a:latin typeface="微软雅黑"/>
              </a:defRPr>
            </a:pPr>
            <a:r>
              <a:t>测试方法：黑盒测试。</a:t>
            </a:r>
          </a:p>
          <a:p>
            <a:pPr>
              <a:spcAft>
                <a:spcPts val="800"/>
              </a:spcAft>
              <a:defRPr sz="1600">
                <a:solidFill>
                  <a:srgbClr val="20262E"/>
                </a:solidFill>
                <a:latin typeface="微软雅黑"/>
              </a:defRPr>
            </a:pPr>
            <a:r>
              <a:t>测试目标：验证主要业务流程能否按预期完成。</a:t>
            </a:r>
          </a:p>
          <a:p>
            <a:pPr>
              <a:spcAft>
                <a:spcPts val="800"/>
              </a:spcAft>
              <a:defRPr sz="1600">
                <a:solidFill>
                  <a:srgbClr val="20262E"/>
                </a:solidFill>
                <a:latin typeface="微软雅黑"/>
              </a:defRPr>
            </a:pPr>
            <a:r>
              <a:t>测试结论：系统核心功能完整，用户端与管理端主要操作均能正常反馈。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工作总结与特点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92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86069"/>
                </a:solidFill>
                <a:latin typeface="微软雅黑"/>
              </a:rPr>
              <a:t>校园学术资源传承平台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143000"/>
            <a:ext cx="1920240" cy="50292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完成内容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22860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62E"/>
                </a:solidFill>
                <a:latin typeface="微软雅黑"/>
              </a:defRPr>
            </a:pPr>
            <a:r>
              <a:t>完成需求分析、系统设计、数据库设计、功能实现和系统测试。</a:t>
            </a:r>
          </a:p>
          <a:p>
            <a:pPr>
              <a:spcAft>
                <a:spcPts val="800"/>
              </a:spcAft>
              <a:defRPr sz="1600">
                <a:solidFill>
                  <a:srgbClr val="20262E"/>
                </a:solidFill>
                <a:latin typeface="微软雅黑"/>
              </a:defRPr>
            </a:pPr>
            <a:r>
              <a:t>实现用户端小程序与管理端后台的主要功能闭环。</a:t>
            </a:r>
          </a:p>
          <a:p>
            <a:pPr>
              <a:spcAft>
                <a:spcPts val="800"/>
              </a:spcAft>
              <a:defRPr sz="1600">
                <a:solidFill>
                  <a:srgbClr val="20262E"/>
                </a:solidFill>
                <a:latin typeface="微软雅黑"/>
              </a:defRPr>
            </a:pPr>
            <a:r>
              <a:t>围绕书籍、批注、资源和学习路径建立核心数据模型。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143000"/>
            <a:ext cx="1920240" cy="502920"/>
          </a:xfrm>
          <a:prstGeom prst="roundRect">
            <a:avLst/>
          </a:prstGeom>
          <a:solidFill>
            <a:srgbClr val="5B9B78"/>
          </a:solidFill>
          <a:ln w="15875">
            <a:solidFill>
              <a:srgbClr val="5B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系统特点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572000" cy="22860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62E"/>
                </a:solidFill>
                <a:latin typeface="微软雅黑"/>
              </a:defRPr>
            </a:pPr>
            <a:r>
              <a:t>将二手书交易与学习经验传承结合。</a:t>
            </a:r>
          </a:p>
          <a:p>
            <a:pPr>
              <a:spcAft>
                <a:spcPts val="800"/>
              </a:spcAft>
              <a:defRPr sz="1600">
                <a:solidFill>
                  <a:srgbClr val="20262E"/>
                </a:solidFill>
                <a:latin typeface="微软雅黑"/>
              </a:defRPr>
            </a:pPr>
            <a:r>
              <a:t>引入批注、资源、路径等学术资源管理能力。</a:t>
            </a:r>
          </a:p>
          <a:p>
            <a:pPr>
              <a:spcAft>
                <a:spcPts val="800"/>
              </a:spcAft>
              <a:defRPr sz="1600">
                <a:solidFill>
                  <a:srgbClr val="20262E"/>
                </a:solidFill>
                <a:latin typeface="微软雅黑"/>
              </a:defRPr>
            </a:pPr>
            <a:r>
              <a:t>功能设计与实际项目控制器、页面和数据表保持一致。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955279" cy="38404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不足与展望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9260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86069"/>
                </a:solidFill>
                <a:latin typeface="微软雅黑"/>
              </a:rPr>
              <a:t>校园学术资源传承平台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8288"/>
          </a:xfrm>
          <a:prstGeom prst="rect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34440"/>
            <a:ext cx="5394960" cy="3657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62E"/>
                </a:solidFill>
                <a:latin typeface="微软雅黑"/>
              </a:defRPr>
            </a:pPr>
            <a:r>
              <a:t>内容审核自动化程度仍可提升。</a:t>
            </a:r>
          </a:p>
          <a:p>
            <a:pPr>
              <a:spcAft>
                <a:spcPts val="800"/>
              </a:spcAft>
              <a:defRPr sz="1800">
                <a:solidFill>
                  <a:srgbClr val="20262E"/>
                </a:solidFill>
                <a:latin typeface="微软雅黑"/>
              </a:defRPr>
            </a:pPr>
            <a:r>
              <a:t>批注图片可进一步接入 OCR 识别，提高知识提取效率。</a:t>
            </a:r>
          </a:p>
          <a:p>
            <a:pPr>
              <a:spcAft>
                <a:spcPts val="800"/>
              </a:spcAft>
              <a:defRPr sz="1800">
                <a:solidFill>
                  <a:srgbClr val="20262E"/>
                </a:solidFill>
                <a:latin typeface="微软雅黑"/>
              </a:defRPr>
            </a:pPr>
            <a:r>
              <a:t>推荐功能可结合用户收藏、浏览和学习路径数据继续优化。</a:t>
            </a:r>
          </a:p>
          <a:p>
            <a:pPr>
              <a:spcAft>
                <a:spcPts val="800"/>
              </a:spcAft>
              <a:defRPr sz="1800">
                <a:solidFill>
                  <a:srgbClr val="20262E"/>
                </a:solidFill>
                <a:latin typeface="微软雅黑"/>
              </a:defRPr>
            </a:pPr>
            <a:r>
              <a:t>后续可完善统一身份认证、消息通知和后台运营能力。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331720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ctr"/>
            <a:r>
              <a:rPr sz="3000" b="1">
                <a:solidFill>
                  <a:srgbClr val="1F4E79"/>
                </a:solidFill>
                <a:latin typeface="微软雅黑"/>
              </a:rPr>
              <a:t>请各位老师批评指正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31546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ctr"/>
            <a:r>
              <a:rPr sz="3200" b="1">
                <a:solidFill>
                  <a:srgbClr val="ED7D31"/>
                </a:solidFill>
                <a:latin typeface="微软雅黑"/>
              </a:rPr>
              <a:t>谢谢！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微软雅黑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